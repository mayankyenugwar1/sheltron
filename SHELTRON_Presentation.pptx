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097280"/>
            <a:ext cx="103628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2926080" cy="384048"/>
          </a:xfrm>
          <a:prstGeom prst="roundRect">
            <a:avLst/>
          </a:prstGeom>
          <a:solidFill>
            <a:srgbClr val="EDF5EB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7559"/>
                </a:solidFill>
                <a:latin typeface="Segoe UI"/>
              </a:defRPr>
            </a:pPr>
            <a:r>
              <a:t>🌱 SMART CLIMATE-TECH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23B2A"/>
                </a:solidFill>
                <a:latin typeface="Segoe UI"/>
              </a:defRPr>
            </a:pPr>
            <a:r>
              <a:t>SHELTRON</a:t>
            </a:r>
          </a:p>
          <a:p>
            <a:pPr>
              <a:spcAft>
                <a:spcPts val="1400"/>
              </a:spcAft>
              <a:defRPr sz="2000" b="1">
                <a:solidFill>
                  <a:srgbClr val="264D38"/>
                </a:solidFill>
                <a:latin typeface="Segoe UI"/>
              </a:defRPr>
            </a:pPr>
            <a:r>
              <a:t>Climate-Adaptive Shelter Design &amp; Thermal Comfort Optimization Platform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"Design Before You Build" — Integrating area-specific microclimate intelligence, bioclimatic architecture rules, real-time thermal simulation, and local supplier discovery for climate-resilient shelters.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3017520" cy="1188720"/>
          </a:xfrm>
          <a:prstGeom prst="roundRect">
            <a:avLst/>
          </a:prstGeom>
          <a:solidFill>
            <a:srgbClr val="EDF5EB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4572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FOCUS DOMAIN</a:t>
            </a:r>
          </a:p>
          <a:p>
            <a:pPr>
              <a:defRPr sz="1100">
                <a:solidFill>
                  <a:srgbClr val="123B2A"/>
                </a:solidFill>
                <a:latin typeface="Segoe UI"/>
              </a:defRPr>
            </a:pPr>
            <a:r>
              <a:t>Climate Resilience • Passive Architecture • Thermal Comfort • Sustainable Building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480560"/>
            <a:ext cx="3200400" cy="1188720"/>
          </a:xfrm>
          <a:prstGeom prst="roundRect">
            <a:avLst/>
          </a:prstGeom>
          <a:solidFill>
            <a:srgbClr val="EDF5EB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4572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TECHNICAL ARCHITECTURE</a:t>
            </a:r>
          </a:p>
          <a:p>
            <a:pPr>
              <a:defRPr sz="1100">
                <a:solidFill>
                  <a:srgbClr val="123B2A"/>
                </a:solidFill>
                <a:latin typeface="Segoe UI"/>
              </a:defRPr>
            </a:pPr>
            <a:r>
              <a:t>React 19 + TypeScript + FastAPI + Three.js Digital Twin + Rule-Based Bioclimatic 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480560"/>
            <a:ext cx="2834640" cy="1188720"/>
          </a:xfrm>
          <a:prstGeom prst="roundRect">
            <a:avLst/>
          </a:prstGeom>
          <a:solidFill>
            <a:srgbClr val="EDF5EB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5720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KEY DELIVERABLE</a:t>
            </a:r>
          </a:p>
          <a:p>
            <a:pPr>
              <a:defRPr sz="1100">
                <a:solidFill>
                  <a:srgbClr val="123B2A"/>
                </a:solidFill>
                <a:latin typeface="Segoe UI"/>
              </a:defRPr>
            </a:pPr>
            <a:r>
              <a:t>Validated 8-Stage Pipeline with Verified Nearby Supplier Discovery &amp; Maps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THE PROBLEM: THE CLIMATE SHELTER CRISIS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Rising temperature anomalies and extreme weather make unoptimized shelters unlivable, energy-draining, and hazardous.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B2A"/>
                </a:solidFill>
                <a:latin typeface="Segoe UI"/>
              </a:defRPr>
            </a:pPr>
            <a:r>
              <a:t>🌡️ Severe Indoor Overheating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In developing regions, tin-roof and non-insulated shelters reach internal temperatures exceeding 42°C-46°C.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Occupants suffer continuous thermal fatigue, sleep disruption, and elevated heatstroke risk.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Post-construction HVAC retrofitting is economically unattainable for low-to-medium income families.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B2A"/>
                </a:solidFill>
                <a:latin typeface="Segoe UI"/>
              </a:defRPr>
            </a:pPr>
            <a:r>
              <a:t>📐 Generic Blueprint Syndrome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Most shelters use identical copy-paste templates regardless of whether the site is Hot-Dry, Warm-Humid, or Cold.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Crucial passive bioclimatic factors—cardinal solar path, prevailing wind direction, and roof slope—are ignored.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High-performance building software (EnergyPlus, IES) is too complex and inaccessible for local builders.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B2A"/>
                </a:solidFill>
                <a:latin typeface="Segoe UI"/>
              </a:defRPr>
            </a:pPr>
            <a:r>
              <a:t>🔗 Supply Chain Disconnect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Eco-friendly, climate-resilient building materials (AAC blocks, cool roof coatings, cavity insulation) exist but lack localized visibility.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Homeowners and contractors default to high thermal mass, carbon-intensive concrete due to lack of local vendor knowledge.</a:t>
            </a:r>
          </a:p>
          <a:p>
            <a:pPr>
              <a:spcAft>
                <a:spcPts val="800"/>
              </a:spcAft>
              <a:defRPr sz="1150">
                <a:solidFill>
                  <a:srgbClr val="264D38"/>
                </a:solidFill>
                <a:latin typeface="Segoe UI"/>
              </a:defRPr>
            </a:pPr>
            <a:r>
              <a:t>• No platform bridges the gap from thermal recommendation directly to verified nearby local suppliers.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TECHNICAL APPROACH &amp; WORKFLOW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SHELTRON's deterministic 10-stage engineering pipeline from geographic ingestion to verified market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594360"/>
          </a:xfrm>
          <a:prstGeom prst="roundRect">
            <a:avLst/>
          </a:prstGeom>
          <a:solidFill>
            <a:srgbClr val="EDF5EB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23B2A"/>
                </a:solidFill>
                <a:latin typeface="Segoe UI"/>
              </a:defRPr>
            </a:pPr>
            <a:r>
              <a:t>Location &amp; Climate Data → Data Processing → Climate Analysis → Climate-Adaptive Architecture → Material &amp; Comfort Recommendation → 2D/3D Digital Twin → Thermal Simulation → What-If Optimization → Cost &amp; Sustainability → Final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871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1. Location &amp; Climate Data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Ingests GPS coordinates, IMD historical normals, and NASA POWER solar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23774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24871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2. Data Processing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Parses diurnal temperature swings, solar radiation vectors, and prevailing winds.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23774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24871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3. Climate Analysis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Classifies ECBC / NBC 2016 5-zone bioclimatic regime and heatwave risk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4" y="23774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2" y="24871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4. Adaptive Architecture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SP 41 rule-engine calculates optimal cardinal orientation, roof slope, and overhangs.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23774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4871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5. Material &amp; Comfort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Selects multi-layer envelope assemblies, calculates composite U-values and thermal lag.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5445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6. 2D/3D Digital Twin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Generates real-time WebGL shelter twin with parametric geometry and daylighting.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44348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8376" y="45445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7. Thermal Simulation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Steady-periodic Fourier heat balance, Sol-Air surface solvers, and indoor operative curves.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5776" y="44348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5504" y="45445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8. What-If Optimization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Instant sandbox for testing parameter alterations with before/after delta metrics.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2904" y="44348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2" y="45445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9. Cost &amp; Sustainability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Calculates capital expense estimates, operational energy reduction, and embodied carbon.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0032" y="4434840"/>
            <a:ext cx="20299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4544568"/>
            <a:ext cx="1810512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23B2A"/>
                </a:solidFill>
                <a:latin typeface="Segoe UI"/>
              </a:defRPr>
            </a:pPr>
            <a:r>
              <a:t>10. Final Design &amp; Supply</a:t>
            </a:r>
          </a:p>
          <a:p>
            <a:pPr>
              <a:defRPr sz="950">
                <a:solidFill>
                  <a:srgbClr val="264D38"/>
                </a:solidFill>
                <a:latin typeface="Segoe UI"/>
              </a:defRPr>
            </a:pPr>
            <a:r>
              <a:t>Exports complete engineering documentation and connects to local verified suppliers.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ACTUAL SHELTRON TECHNOLOGY STACK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Engineered with proven, high-performance web and scientific computing technologies. No unverified AI/ML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22128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3B2A"/>
                </a:solidFill>
                <a:latin typeface="Segoe UI"/>
              </a:defRPr>
            </a:pPr>
            <a:r>
              <a:t>Frontend Architecture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React 19 &amp; TypeScript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Component modularity, type-safe contract validation, and high-responsiveness.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Tailwind CSS v4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Bespoke Earth-Green design system, responsive utility layout, and accessible UI.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Lucide React Icons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Harmonized, minimal iconography across navigation, pipeline, and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28800"/>
            <a:ext cx="22128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3B2A"/>
                </a:solidFill>
                <a:latin typeface="Segoe UI"/>
              </a:defRPr>
            </a:pPr>
            <a:r>
              <a:t>Visualization &amp; Geospatial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Three.js &amp; R3F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Hardware-accelerated 3D WebGL digital twin with orbit, zoom, pan, and live materials.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Leaflet Geospatial Maps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Interactive location pinpointing, reverse geocoding, and climate zone boundary overlay.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Recharts &amp; Canvas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Dynamic 24-hr diurnal temperature curves, 5-axis Pareto radar, and spatial heatmaps.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828800"/>
            <a:ext cx="22128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3B2A"/>
                </a:solidFill>
                <a:latin typeface="Segoe UI"/>
              </a:defRPr>
            </a:pPr>
            <a:r>
              <a:t>Backend &amp; Databases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Python 3.12 &amp; FastAPI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High-throughput asynchronous REST API serving climate data, simulations, and exports.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PostgreSQL / Material DB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Relational catalog of thermophysical material constants, costs, and carbon factors.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NumPy &amp; SciPy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Vectorized Fourier envelope conduction, sol-air solving, and thermal decrement math.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9164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28800"/>
            <a:ext cx="22128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3B2A"/>
                </a:solidFill>
                <a:latin typeface="Segoe UI"/>
              </a:defRPr>
            </a:pPr>
            <a:r>
              <a:t>Scientific Simulation Logic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Rule-Based Bioclimatic Solver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Deterministic passive rules derived from SP 41 (Handbook on Functional Building Design).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Thermal Balance Engine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Fourier conduction (Q=U·A·ΔT), Sol-Air radiation, and natural ventilation air-changes.</a:t>
            </a:r>
          </a:p>
          <a:p>
            <a:pPr>
              <a:defRPr sz="1100" b="1">
                <a:solidFill>
                  <a:srgbClr val="2E7559"/>
                </a:solidFill>
                <a:latin typeface="Segoe UI"/>
              </a:defRPr>
            </a:pPr>
            <a:r>
              <a:t>• Supplier Discovery Service</a:t>
            </a:r>
          </a:p>
          <a:p>
            <a:pPr>
              <a:spcAft>
                <a:spcPts val="8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Proximity search matching materials to verified local vendors with Google Maps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KEY SHELTRON DIFFERENTIATORS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Six strategic pillars that position SHELTRON beyond generic architecture tools and speculative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1. Area-Specific Climate Intelligence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Dynamic localized microclimate parsing using true coordinates, diurnal swings, seasonal solar geometry, and heatwave surge scenarios rather than generic city averages.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916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828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2. Bioclimatic Design Engine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Deterministic engineering rules calculating optimal cardinal orientation, roof slope/form, window-to-wall ratio (WWR), and chajja shading overhangs based on NBC 2016 and SP 41.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3. Thermal Digital Twin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Real-time interactive 2D floor plans and 3D WebGL shelter digital twin rendering internal operative temperatures, sol-air surface loads, and 9-point spatial heatmaps.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2461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3832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4. What-If Multi-Objective Optimization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Rapid parametric sandbox allowing instant material and geometry alterations with real-time before/after deltas across comfort, capital cost, and embodied carbon.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5. Material-to-Market / Find Nearby Suppliers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Direct link between engineering recommendations and the physical supply chain: discovers verified local distributors with exact distances and Google Maps directions.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800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4937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6. Climate-Resilient Shelter Planning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Designed for disaster relief, rural housing, and urban slums to withstand IPCC +2.5°C heatwaves and severe monsoons without costly mechanical HVAC reliance.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END-TO-END PIPELINE ARCHITECTURE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Unified functional stages: seamless state preservation, transparent engineering metrics, and instant recalculation.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5623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1: Site &amp; Req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Geographic location, site dimensions, shelter typology, occupancy count, and budget ceiling.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5623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2: Climate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Calculates peak/min temperature, solar irradiance, diurnal swing, and climate 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85623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3: Materials &amp; Comfort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Wall, roof, glazing, and insulation selection with live U-value and decrement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5623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4: 3D Twin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Interactive WebGL shelter model with materials, solar compass, and aperture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8795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5: Thermal Sim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24-hour diurnal operative temperature solver, sensible heat balance, and cooling demands.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402336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418795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6: What-If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Interactive parameter sandbox testing mutations with before/after performance deltas.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402336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18795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7: Compare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Side-by-side benchmarking: baseline generic shelter vs. SHELTRON optimized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402336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4187952"/>
            <a:ext cx="221284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Stage 8: Result</a:t>
            </a:r>
          </a:p>
          <a:p>
            <a:pPr>
              <a:defRPr sz="1050">
                <a:solidFill>
                  <a:srgbClr val="264D38"/>
                </a:solidFill>
                <a:latin typeface="Segoe UI"/>
              </a:defRPr>
            </a:pPr>
            <a:r>
              <a:t>Executive performance dossier, PDF report export, and verified nearby supplier discovery.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FEASIBILITY, VIABILITY &amp; REAL-WORLD IMPACT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Demonstrating engineering rigor, economic viability, operational readiness, and environmental sustainability.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B2A"/>
                </a:solidFill>
                <a:latin typeface="Segoe UI"/>
              </a:defRPr>
            </a:pPr>
            <a:r>
              <a:t>⚙️ Technical Feasibility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Lightweight Deterministic Computing: Zero expensive GPU requirements; runs calculations in milliseconds inside browser and FastAPI microservices.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Standards Compliance: Aligned with National Building Code (NBC 2016), Energy Conservation Building Code (ECBC), and IS SP 41.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Deterministic Reliability: No hallucinated architectural advice or unpredictable black-box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B2A"/>
                </a:solidFill>
                <a:latin typeface="Segoe UI"/>
              </a:defRPr>
            </a:pPr>
            <a:r>
              <a:t>💰 Economic Viability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CapEx vs. OpEx Optimization: Passive cooling strategies yield 30%-45% reduction in electricity bills and eliminate the need for oversized AC systems.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Localized Procurement: Recommends locally available materials (e.g., fly-ash bricks, earthen plaster) to minimize logistics and transport expenses.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Low Implementation Barrier: Free, accessible open platform empowering community planners, NGOs, and low-income builders.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B2A"/>
                </a:solidFill>
                <a:latin typeface="Segoe UI"/>
              </a:defRPr>
            </a:pPr>
            <a:r>
              <a:t>🌍 Societal &amp; Climate Impact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Heat Stress Mitigation: Lowers peak indoor temperatures by 5°C-9°C passively, protecting vulnerable families and children from heatwaves.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Embodied Carbon Reduction: Prioritizes low-carbon materials, saving ~1,800-3,500 kg CO2e per 45m² residential unit.</a:t>
            </a:r>
          </a:p>
          <a:p>
            <a:pPr>
              <a:spcAft>
                <a:spcPts val="8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• Rapid Disaster Deployment: Generates instant climate-tailored emergency shelter specifications for NDRF/disaster response agencies.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VALIDATED BENCHMARK DEMO: NASHIK, MAHARASHTRA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Complete live walkthrough results demonstrating measurable thermal performance deltas and localized supplier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23B2A"/>
                </a:solidFill>
                <a:latin typeface="Segoe UI"/>
              </a:defRPr>
            </a:pPr>
            <a:r>
              <a:t>📊 Case Study: Residential Family Shelter (4 Occupants)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Location: Nashik, Maharashtra (Warm &amp; Humid / Semi-Arid transition)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Peak Ambient Temperature: 38.5°C outdoor extreme heat</a:t>
            </a:r>
          </a:p>
          <a:p>
            <a:pPr>
              <a:spcAft>
                <a:spcPts val="300"/>
              </a:spcAft>
              <a:defRPr sz="1100" b="1">
                <a:solidFill>
                  <a:srgbClr val="AA3C3C"/>
                </a:solidFill>
                <a:latin typeface="Segoe UI"/>
              </a:defRPr>
            </a:pPr>
            <a:r>
              <a:t>Baseline Shelter (Uninsulated Brick + Tin Roof):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   • Peak Indoor Temperature: 38.2°C (Dangerous overheating)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   • Total Heat Gain: 7,450 Watts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   • Thermal Comfort Score: 32/100 (Poor)</a:t>
            </a:r>
          </a:p>
          <a:p>
            <a:pPr>
              <a:spcAft>
                <a:spcPts val="300"/>
              </a:spcAft>
              <a:defRPr sz="1100" b="1">
                <a:solidFill>
                  <a:srgbClr val="2E7559"/>
                </a:solidFill>
                <a:latin typeface="Segoe UI"/>
              </a:defRPr>
            </a:pPr>
            <a:r>
              <a:t>SHELTRON Optimized Shelter (AAC + Cool Roof + Insulation):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   • Peak Indoor Temperature: 29.8°C (-8.4°C Passive Cooling)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   • Total Heat Gain: 3,920 Watts (47% Heat Gain Reduction)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   • Thermal Comfort Score: 86/100 (Optimal)</a:t>
            </a:r>
          </a:p>
          <a:p>
            <a:pPr>
              <a:spcAft>
                <a:spcPts val="300"/>
              </a:spcAft>
              <a:defRPr sz="1100">
                <a:solidFill>
                  <a:srgbClr val="264D38"/>
                </a:solidFill>
                <a:latin typeface="Segoe UI"/>
              </a:defRPr>
            </a:pPr>
            <a:r>
              <a:t>   • Embodied Carbon: -38% compared to standard concrete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74519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23B2A"/>
                </a:solidFill>
                <a:latin typeface="Segoe UI"/>
              </a:defRPr>
            </a:pPr>
            <a:r>
              <a:t>📍 Material-to-Market: Verified Nashik Suppliers</a:t>
            </a:r>
          </a:p>
          <a:p>
            <a:pPr>
              <a:defRPr sz="1150" b="1">
                <a:solidFill>
                  <a:srgbClr val="2E7559"/>
                </a:solidFill>
                <a:latin typeface="Segoe UI"/>
              </a:defRPr>
            </a:pPr>
            <a:r>
              <a:t>• Thermal Insulation (Cellular Glass / XPS)</a:t>
            </a:r>
          </a:p>
          <a:p>
            <a:pPr>
              <a:defRPr sz="1000" b="1">
                <a:solidFill>
                  <a:srgbClr val="123B2A"/>
                </a:solidFill>
                <a:latin typeface="Segoe UI"/>
              </a:defRPr>
            </a:pPr>
            <a:r>
              <a:t>   Maharashtra Insulation &amp; Acoustic Mart — Ambad MIDC, Nashik (4.2 km)</a:t>
            </a:r>
          </a:p>
          <a:p>
            <a:pPr>
              <a:spcAft>
                <a:spcPts val="6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Direct procurement for continuous roof &amp; wall insulation.</a:t>
            </a:r>
          </a:p>
          <a:p>
            <a:pPr>
              <a:defRPr sz="1150" b="1">
                <a:solidFill>
                  <a:srgbClr val="2E7559"/>
                </a:solidFill>
                <a:latin typeface="Segoe UI"/>
              </a:defRPr>
            </a:pPr>
            <a:r>
              <a:t>• Autoclaved Aerated Concrete (AAC)</a:t>
            </a:r>
          </a:p>
          <a:p>
            <a:pPr>
              <a:defRPr sz="1000" b="1">
                <a:solidFill>
                  <a:srgbClr val="123B2A"/>
                </a:solidFill>
                <a:latin typeface="Segoe UI"/>
              </a:defRPr>
            </a:pPr>
            <a:r>
              <a:t>   Godavari Green Tech Building Solutions — Satpur Industrial Area, Nashik (6.1 km)</a:t>
            </a:r>
          </a:p>
          <a:p>
            <a:pPr>
              <a:spcAft>
                <a:spcPts val="6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Low thermal conductivity (0.16 W/mK) lightweight structural blocks.</a:t>
            </a:r>
          </a:p>
          <a:p>
            <a:pPr>
              <a:defRPr sz="1150" b="1">
                <a:solidFill>
                  <a:srgbClr val="2E7559"/>
                </a:solidFill>
                <a:latin typeface="Segoe UI"/>
              </a:defRPr>
            </a:pPr>
            <a:r>
              <a:t>• High-SRI Cool Roof Coating</a:t>
            </a:r>
          </a:p>
          <a:p>
            <a:pPr>
              <a:defRPr sz="1000" b="1">
                <a:solidFill>
                  <a:srgbClr val="123B2A"/>
                </a:solidFill>
                <a:latin typeface="Segoe UI"/>
              </a:defRPr>
            </a:pPr>
            <a:r>
              <a:t>   Sahyadri Eco-Paints &amp; Protective Coatings — Dwarka Circle, Nashik (3.5 km)</a:t>
            </a:r>
          </a:p>
          <a:p>
            <a:pPr>
              <a:spcAft>
                <a:spcPts val="6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Solar Reflectance Index 84+ solar reflective liquid membrane.</a:t>
            </a:r>
          </a:p>
          <a:p>
            <a:pPr>
              <a:defRPr sz="1150" b="1">
                <a:solidFill>
                  <a:srgbClr val="2E7559"/>
                </a:solidFill>
                <a:latin typeface="Segoe UI"/>
              </a:defRPr>
            </a:pPr>
            <a:r>
              <a:t>• Live Google Maps Integration</a:t>
            </a:r>
          </a:p>
          <a:p>
            <a:pPr>
              <a:defRPr sz="1000" b="1">
                <a:solidFill>
                  <a:srgbClr val="123B2A"/>
                </a:solidFill>
                <a:latin typeface="Segoe UI"/>
              </a:defRPr>
            </a:pPr>
            <a:r>
              <a:t>   One-Click Route Navigation — Direct GPS routing</a:t>
            </a:r>
          </a:p>
          <a:p>
            <a:pPr>
              <a:spcAft>
                <a:spcPts val="600"/>
              </a:spcAft>
              <a:defRPr sz="950">
                <a:solidFill>
                  <a:srgbClr val="264D38"/>
                </a:solidFill>
                <a:latin typeface="Segoe UI"/>
              </a:defRPr>
            </a:pPr>
            <a:r>
              <a:t>   Judges and contractors can immediately open directions and contact local vendors.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57751"/>
                </a:solidFill>
                <a:latin typeface="Segoe UI"/>
              </a:defRPr>
            </a:pPr>
            <a:r>
              <a:t>SHELTRON  |  Climate-Adaptive Shelter Design &amp; Thermal Optimization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B2A"/>
                </a:solidFill>
                <a:latin typeface="Segoe UI"/>
              </a:defRPr>
            </a:pPr>
            <a:r>
              <a:t>CONCLUSION &amp; FUTURE HORIZONS</a:t>
            </a:r>
          </a:p>
          <a:p>
            <a:pPr>
              <a:defRPr sz="1300">
                <a:solidFill>
                  <a:srgbClr val="557751"/>
                </a:solidFill>
                <a:latin typeface="Segoe UI"/>
              </a:defRPr>
            </a:pPr>
            <a:r>
              <a:t>SHELTRON transforms passive building design from an elite architectural luxury into a universally accessible 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🏆 SIH 2026 Core Delivery (Completed &amp; Verified)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Fully functional 8-stage interactive web platform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Real-time 3D WebGL shelter digital twin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Rule-based bioclimatic recommendation engine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Deterministic steady-periodic Fourier thermal solver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What-If multi-objective Pareto trade-off comparator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Localized nearby supplier discovery with Google Maps links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8562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📈 Phase 1: High-Resolution Climate Extension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Integration with Open-Meteo &amp; ERA5 global reanalysis weather streams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Expanded 10-zone sub-microclimate classification across India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Automated calculation of ASHRAE 55 Adaptive Comfort degree hours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Extreme heatwave multi-day persistence vulnerability 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8795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🏗️ Phase 2: BIM &amp; CAD Interoperability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Two-way IFC / BIM format schema export for Autodesk Revit &amp; FreeCAD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Automated quantity take-off (QTO) bill of materials for local estimators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Structural wind load &amp; seismic zone cross-referencing based on IS 875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Direct contractor RFQ (Request for Quote) dispatch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18795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23B2A"/>
                </a:solidFill>
                <a:latin typeface="Segoe UI"/>
              </a:defRPr>
            </a:pPr>
            <a:r>
              <a:t>🤝 Phase 3: Community &amp; Municipal Deployment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Partnership with PM Awas Yojana (PMAY) for climate-resilient rural housing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Deployment kit for disaster management authorities (NDRF / SDRF)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Multi-lingual interface support (Hindi, Marathi, Tamil, Bengali)</a:t>
            </a:r>
          </a:p>
          <a:p>
            <a:pPr>
              <a:spcAft>
                <a:spcPts val="200"/>
              </a:spcAft>
              <a:defRPr sz="1000">
                <a:solidFill>
                  <a:srgbClr val="264D38"/>
                </a:solidFill>
                <a:latin typeface="Segoe UI"/>
              </a:defRPr>
            </a:pPr>
            <a:r>
              <a:t>• Open-access bioclimatic shelter blueprint catalog for rural panchayats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